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Asia</c:v>
                </c:pt>
                <c:pt idx="1">
                  <c:v>Europe</c:v>
                </c:pt>
                <c:pt idx="2">
                  <c:v>North America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375000</c:v>
                </c:pt>
                <c:pt idx="1">
                  <c:v>215000</c:v>
                </c:pt>
                <c:pt idx="2">
                  <c:v>520000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C8-2141-A068-535C3EBFD0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Revenue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Margin (%)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Asia</c:v>
                </c:pt>
                <c:pt idx="1">
                  <c:v>Europe</c:v>
                </c:pt>
                <c:pt idx="2">
                  <c:v>North America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27.906976744186046</c:v>
                </c:pt>
                <c:pt idx="2">
                  <c:v>40.384615384615387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61-A046-96CC-775AEF64C2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t>Margin (%)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Q1_2026</c:v>
                </c:pt>
                <c:pt idx="1">
                  <c:v>Q2_2026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550000</c:v>
                </c:pt>
                <c:pt idx="1">
                  <c:v>560000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235-4842-8AA7-CCA22AD515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Q1_2026</c:v>
                </c:pt>
                <c:pt idx="1">
                  <c:v>Q2_2026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340000</c:v>
                </c:pt>
                <c:pt idx="1">
                  <c:v>350000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235-4842-8AA7-CCA22AD515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Amount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Q1_2026</c:v>
                </c:pt>
                <c:pt idx="1">
                  <c:v>Q2_2026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38.181818181818187</c:v>
                </c:pt>
                <c:pt idx="1">
                  <c:v>37.5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1D0-6D47-A6E9-AE99C733F2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Margin (%)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777240"/>
            <a:ext cx="106984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00" b="1">
                <a:solidFill>
                  <a:srgbClr val="73DCCF"/>
                </a:solidFill>
                <a:latin typeface="Aptos"/>
              </a:defRPr>
            </a:pPr>
            <a:r>
              <a:t>ANALYTICS • SEMANTIC METRICS • GOVERNED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515600" cy="12344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ptos"/>
              </a:defRPr>
            </a:pPr>
            <a:r>
              <a:t>MetricMind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9966960" cy="960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400" b="0">
                <a:solidFill>
                  <a:srgbClr val="DCE5F0"/>
                </a:solidFill>
                <a:latin typeface="Aptos"/>
              </a:defRPr>
            </a:pPr>
            <a:r>
              <a:t>Natural-language business analytics over sales and performance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92040"/>
            <a:ext cx="996696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Project documentation &amp; technical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9966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00" b="0">
                <a:solidFill>
                  <a:srgbClr val="B9C6D7"/>
                </a:solidFill>
                <a:latin typeface="Aptos"/>
              </a:defRPr>
            </a:pPr>
            <a:r>
              <a:t>Based on the supplied API code, metrics module and mock_sales.csv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800" b="1">
                <a:solidFill>
                  <a:srgbClr val="58667A"/>
                </a:solidFill>
                <a:latin typeface="Aptos"/>
              </a:defRPr>
            </a:pPr>
            <a:r>
              <a:t>METRICMIND  |  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0">
                <a:solidFill>
                  <a:srgbClr val="58667A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45D6D6-4EB2-6770-E215-4BE45FCBF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687" y="194388"/>
            <a:ext cx="8337075" cy="6663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397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800" b="1">
                <a:solidFill>
                  <a:srgbClr val="16233A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97280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58667A"/>
                </a:solidFill>
                <a:latin typeface="Aptos"/>
              </a:defRPr>
            </a:pPr>
            <a:r>
              <a:t>What MetricMind is designed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54864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800" b="1">
                <a:solidFill>
                  <a:srgbClr val="58667A"/>
                </a:solidFill>
                <a:latin typeface="Aptos"/>
              </a:defRPr>
            </a:pPr>
            <a:r>
              <a:t>METRICMIND  |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0">
                <a:solidFill>
                  <a:srgbClr val="58667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6492240" cy="43891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6233A"/>
                </a:solidFill>
                <a:latin typeface="Aptos"/>
              </a:defRPr>
            </a:pPr>
            <a:r>
              <a:t>•  Translate natural-language business questions into a structured metric request.</a:t>
            </a:r>
          </a:p>
          <a:p>
            <a:pPr>
              <a:spcAft>
                <a:spcPts val="900"/>
              </a:spcAft>
              <a:defRPr sz="1800">
                <a:solidFill>
                  <a:srgbClr val="16233A"/>
                </a:solidFill>
                <a:latin typeface="Aptos"/>
              </a:defRPr>
            </a:pPr>
            <a:r>
              <a:t>•  Use a local Ollama model through LangChain to extract intent in JSON.</a:t>
            </a:r>
          </a:p>
          <a:p>
            <a:pPr>
              <a:spcAft>
                <a:spcPts val="900"/>
              </a:spcAft>
              <a:defRPr sz="1800">
                <a:solidFill>
                  <a:srgbClr val="16233A"/>
                </a:solidFill>
                <a:latin typeface="Aptos"/>
              </a:defRPr>
            </a:pPr>
            <a:r>
              <a:t>•  Validate metrics, dimensions and operations before building SQL.</a:t>
            </a:r>
          </a:p>
          <a:p>
            <a:pPr>
              <a:spcAft>
                <a:spcPts val="900"/>
              </a:spcAft>
              <a:defRPr sz="1800">
                <a:solidFill>
                  <a:srgbClr val="16233A"/>
                </a:solidFill>
                <a:latin typeface="Aptos"/>
              </a:defRPr>
            </a:pPr>
            <a:r>
              <a:t>•  Query PostgreSQL and return results with intent and generated SQL metadata.</a:t>
            </a:r>
          </a:p>
          <a:p>
            <a:pPr>
              <a:spcAft>
                <a:spcPts val="900"/>
              </a:spcAft>
              <a:defRPr sz="1800">
                <a:solidFill>
                  <a:srgbClr val="16233A"/>
                </a:solidFill>
                <a:latin typeface="Aptos"/>
              </a:defRPr>
            </a:pPr>
            <a:r>
              <a:t>•  Use a small mock dataset to demonstrate regional and quarterly performance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691640"/>
            <a:ext cx="3246120" cy="1143000"/>
          </a:xfrm>
          <a:prstGeom prst="roundRect">
            <a:avLst/>
          </a:prstGeom>
          <a:solidFill>
            <a:srgbClr val="F2F6FB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91271" y="1828800"/>
            <a:ext cx="2916936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00" b="1">
                <a:solidFill>
                  <a:srgbClr val="58667A"/>
                </a:solidFill>
                <a:latin typeface="Aptos"/>
              </a:defRPr>
            </a:pPr>
            <a:r>
              <a:t>ROWS IN MOCK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1271" y="2194560"/>
            <a:ext cx="2916936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300" b="1">
                <a:solidFill>
                  <a:srgbClr val="2A6CBE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3063240"/>
            <a:ext cx="3246120" cy="1143000"/>
          </a:xfrm>
          <a:prstGeom prst="roundRect">
            <a:avLst/>
          </a:prstGeom>
          <a:solidFill>
            <a:srgbClr val="F2F6FB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91271" y="3200400"/>
            <a:ext cx="2916936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00" b="1">
                <a:solidFill>
                  <a:srgbClr val="58667A"/>
                </a:solidFill>
                <a:latin typeface="Aptos"/>
              </a:defRPr>
            </a:pPr>
            <a:r>
              <a:t>REGIONS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1" y="3566160"/>
            <a:ext cx="2916936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300" b="1">
                <a:solidFill>
                  <a:srgbClr val="19969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4434840"/>
            <a:ext cx="3246120" cy="1143000"/>
          </a:xfrm>
          <a:prstGeom prst="roundRect">
            <a:avLst/>
          </a:prstGeom>
          <a:solidFill>
            <a:srgbClr val="F2F6FB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91271" y="4572000"/>
            <a:ext cx="2916936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00" b="1">
                <a:solidFill>
                  <a:srgbClr val="58667A"/>
                </a:solidFill>
                <a:latin typeface="Aptos"/>
              </a:defRPr>
            </a:pPr>
            <a:r>
              <a:t>QUARTER LABELS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1" y="4937759"/>
            <a:ext cx="2916936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300" b="1">
                <a:solidFill>
                  <a:srgbClr val="E6913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800" b="1">
                <a:solidFill>
                  <a:srgbClr val="16233A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97280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58667A"/>
                </a:solidFill>
                <a:latin typeface="Aptos"/>
              </a:defRPr>
            </a:pPr>
            <a:r>
              <a:t>The business problem and intended outcome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54864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800" b="1">
                <a:solidFill>
                  <a:srgbClr val="58667A"/>
                </a:solidFill>
                <a:latin typeface="Aptos"/>
              </a:defRPr>
            </a:pPr>
            <a:r>
              <a:t>METRICMIND  |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0">
                <a:solidFill>
                  <a:srgbClr val="58667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51206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000" b="1">
                <a:solidFill>
                  <a:srgbClr val="2A6CBE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5074920" cy="1600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700" b="0">
                <a:solidFill>
                  <a:srgbClr val="16233A"/>
                </a:solidFill>
                <a:latin typeface="Aptos"/>
              </a:defRPr>
            </a:pPr>
            <a:r>
              <a:t>Business users often ask questions in plain language, while analytics systems expect exact metric names, dimensions and database queries.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572768"/>
            <a:ext cx="51206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000" b="1">
                <a:solidFill>
                  <a:srgbClr val="199691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993392"/>
            <a:ext cx="5074920" cy="1600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700" b="0">
                <a:solidFill>
                  <a:srgbClr val="16233A"/>
                </a:solidFill>
                <a:latin typeface="Aptos"/>
              </a:defRPr>
            </a:pPr>
            <a:r>
              <a:t>MetricMind adds a semantic layer: interpret the question, map it to an approved metric and operation, validate the request, then execute a controlled query.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51960"/>
            <a:ext cx="107899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00" b="1">
                <a:solidFill>
                  <a:srgbClr val="58667A"/>
                </a:solidFill>
                <a:latin typeface="Aptos"/>
              </a:defRPr>
            </a:pPr>
            <a:r>
              <a:t>Example user question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617720"/>
            <a:ext cx="10607040" cy="868680"/>
          </a:xfrm>
          <a:prstGeom prst="roundRect">
            <a:avLst/>
          </a:prstGeom>
          <a:solidFill>
            <a:srgbClr val="F2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828032"/>
            <a:ext cx="10058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200" b="1">
                <a:solidFill>
                  <a:srgbClr val="16233A"/>
                </a:solidFill>
                <a:latin typeface="Aptos"/>
              </a:defRPr>
            </a:pPr>
            <a:r>
              <a:t>“Why did our European margins drop in Q2?”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800" b="1">
                <a:solidFill>
                  <a:srgbClr val="16233A"/>
                </a:solidFill>
                <a:latin typeface="Aptos"/>
              </a:defRPr>
            </a:pPr>
            <a:r>
              <a:t>Architecture &amp; request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97280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58667A"/>
                </a:solidFill>
                <a:latin typeface="Aptos"/>
              </a:defRPr>
            </a:pPr>
            <a:r>
              <a:t>Current code path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54864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800" b="1">
                <a:solidFill>
                  <a:srgbClr val="58667A"/>
                </a:solidFill>
                <a:latin typeface="Aptos"/>
              </a:defRPr>
            </a:pPr>
            <a:r>
              <a:t>METRICMIND  |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0">
                <a:solidFill>
                  <a:srgbClr val="58667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1627632" cy="1417320"/>
          </a:xfrm>
          <a:prstGeom prst="roundRect">
            <a:avLst/>
          </a:prstGeom>
          <a:solidFill>
            <a:srgbClr val="F2F6FB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2331720"/>
            <a:ext cx="1408176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300" b="1">
                <a:solidFill>
                  <a:srgbClr val="2A6CBE"/>
                </a:solidFill>
                <a:latin typeface="Aptos"/>
              </a:defRPr>
            </a:pPr>
            <a:r>
              <a:t>1. User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852928"/>
            <a:ext cx="1408176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0">
                <a:solidFill>
                  <a:srgbClr val="16233A"/>
                </a:solidFill>
                <a:latin typeface="Aptos"/>
              </a:defRPr>
            </a:pPr>
            <a:r>
              <a:t>Natural-language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7712" y="2606040"/>
            <a:ext cx="256032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2000" b="1">
                <a:solidFill>
                  <a:srgbClr val="5866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2032" y="2148840"/>
            <a:ext cx="1627632" cy="1417320"/>
          </a:xfrm>
          <a:prstGeom prst="roundRect">
            <a:avLst/>
          </a:prstGeom>
          <a:solidFill>
            <a:srgbClr val="E8F5F4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51760" y="2331720"/>
            <a:ext cx="1408176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300" b="1">
                <a:solidFill>
                  <a:srgbClr val="2A6CBE"/>
                </a:solidFill>
                <a:latin typeface="Aptos"/>
              </a:defRPr>
            </a:pPr>
            <a:r>
              <a:t>2. LangChain + Ollama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852928"/>
            <a:ext cx="1408176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0">
                <a:solidFill>
                  <a:srgbClr val="16233A"/>
                </a:solidFill>
                <a:latin typeface="Aptos"/>
              </a:defRPr>
            </a:pPr>
            <a:r>
              <a:t>Extract intent as 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9664" y="2606040"/>
            <a:ext cx="256032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2000" b="1">
                <a:solidFill>
                  <a:srgbClr val="5866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43984" y="2148840"/>
            <a:ext cx="1627632" cy="1417320"/>
          </a:xfrm>
          <a:prstGeom prst="roundRect">
            <a:avLst/>
          </a:prstGeom>
          <a:solidFill>
            <a:srgbClr val="F2F6FB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3712" y="2331720"/>
            <a:ext cx="1408176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300" b="1">
                <a:solidFill>
                  <a:srgbClr val="2A6CBE"/>
                </a:solidFill>
                <a:latin typeface="Aptos"/>
              </a:defRPr>
            </a:pPr>
            <a:r>
              <a:t>3. Governance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852928"/>
            <a:ext cx="1408176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0">
                <a:solidFill>
                  <a:srgbClr val="16233A"/>
                </a:solidFill>
                <a:latin typeface="Aptos"/>
              </a:defRPr>
            </a:pPr>
            <a:r>
              <a:t>Allowlisted metric, dimension, operation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71616" y="2606040"/>
            <a:ext cx="256032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2000" b="1">
                <a:solidFill>
                  <a:srgbClr val="5866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2148840"/>
            <a:ext cx="1627632" cy="1417320"/>
          </a:xfrm>
          <a:prstGeom prst="roundRect">
            <a:avLst/>
          </a:prstGeom>
          <a:solidFill>
            <a:srgbClr val="E8F5F4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55664" y="2331720"/>
            <a:ext cx="1408176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300" b="1">
                <a:solidFill>
                  <a:srgbClr val="199691"/>
                </a:solidFill>
                <a:latin typeface="Aptos"/>
              </a:defRPr>
            </a:pPr>
            <a:r>
              <a:t>4. SQL 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852928"/>
            <a:ext cx="1408176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0">
                <a:solidFill>
                  <a:srgbClr val="16233A"/>
                </a:solidFill>
                <a:latin typeface="Aptos"/>
              </a:defRPr>
            </a:pPr>
            <a:r>
              <a:t>Application builds 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2606040"/>
            <a:ext cx="256032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2000" b="1">
                <a:solidFill>
                  <a:srgbClr val="5866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47888" y="2148840"/>
            <a:ext cx="1627632" cy="1417320"/>
          </a:xfrm>
          <a:prstGeom prst="roundRect">
            <a:avLst/>
          </a:prstGeom>
          <a:solidFill>
            <a:srgbClr val="F2F6FB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57615" y="2331720"/>
            <a:ext cx="1408176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300" b="1">
                <a:solidFill>
                  <a:srgbClr val="199691"/>
                </a:solidFill>
                <a:latin typeface="Aptos"/>
              </a:defRPr>
            </a:pPr>
            <a:r>
              <a:t>5. 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5" y="2852928"/>
            <a:ext cx="1408176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0">
                <a:solidFill>
                  <a:srgbClr val="16233A"/>
                </a:solidFill>
                <a:latin typeface="Aptos"/>
              </a:defRPr>
            </a:pPr>
            <a:r>
              <a:t>Execute query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19" y="2606040"/>
            <a:ext cx="256032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2000" b="1">
                <a:solidFill>
                  <a:srgbClr val="5866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49840" y="2148840"/>
            <a:ext cx="1627632" cy="1417320"/>
          </a:xfrm>
          <a:prstGeom prst="roundRect">
            <a:avLst/>
          </a:prstGeom>
          <a:solidFill>
            <a:srgbClr val="E8F5F4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59567" y="2331720"/>
            <a:ext cx="1408176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300" b="1">
                <a:solidFill>
                  <a:srgbClr val="199691"/>
                </a:solidFill>
                <a:latin typeface="Aptos"/>
              </a:defRPr>
            </a:pPr>
            <a:r>
              <a:t>6.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59567" y="2852928"/>
            <a:ext cx="1408176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0">
                <a:solidFill>
                  <a:srgbClr val="16233A"/>
                </a:solidFill>
                <a:latin typeface="Aptos"/>
              </a:defRPr>
            </a:pPr>
            <a:r>
              <a:t>Result + intent/SQL metadata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251960"/>
            <a:ext cx="1051560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600" b="1">
                <a:solidFill>
                  <a:srgbClr val="16233A"/>
                </a:solidFill>
                <a:latin typeface="Aptos"/>
              </a:defRPr>
            </a:pPr>
            <a:r>
              <a:t>Design principle: the model proposes structured intent; application code validates it and constructs SQL. Do not rely on the LLM alone for database safety.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800" b="1">
                <a:solidFill>
                  <a:srgbClr val="16233A"/>
                </a:solidFill>
                <a:latin typeface="Aptos"/>
              </a:defRPr>
            </a:pPr>
            <a:r>
              <a:t>Semantic metrics &amp; key-value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97280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58667A"/>
                </a:solidFill>
                <a:latin typeface="Aptos"/>
              </a:defRPr>
            </a:pPr>
            <a:r>
              <a:t>Controlled vocabulary used to interpret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54864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800" b="1">
                <a:solidFill>
                  <a:srgbClr val="58667A"/>
                </a:solidFill>
                <a:latin typeface="Aptos"/>
              </a:defRPr>
            </a:pPr>
            <a:r>
              <a:t>METRICMIND  |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0">
                <a:solidFill>
                  <a:srgbClr val="58667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800" b="1">
                <a:solidFill>
                  <a:srgbClr val="2A6CBE"/>
                </a:solidFill>
                <a:latin typeface="Aptos"/>
              </a:defRPr>
            </a:pPr>
            <a:r>
              <a:t>Metric registry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663440" cy="32004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6233A"/>
                </a:solidFill>
                <a:latin typeface="Aptos"/>
              </a:defRPr>
            </a:pPr>
            <a:r>
              <a:t>•  revenue → sales/revenue value</a:t>
            </a:r>
          </a:p>
          <a:p>
            <a:pPr>
              <a:spcAft>
                <a:spcPts val="900"/>
              </a:spcAft>
              <a:defRPr sz="1600">
                <a:solidFill>
                  <a:srgbClr val="16233A"/>
                </a:solidFill>
                <a:latin typeface="Aptos"/>
              </a:defRPr>
            </a:pPr>
            <a:r>
              <a:t>•  cost → cost value</a:t>
            </a:r>
          </a:p>
          <a:p>
            <a:pPr>
              <a:spcAft>
                <a:spcPts val="900"/>
              </a:spcAft>
              <a:defRPr sz="1600">
                <a:solidFill>
                  <a:srgbClr val="16233A"/>
                </a:solidFill>
                <a:latin typeface="Aptos"/>
              </a:defRPr>
            </a:pPr>
            <a:r>
              <a:t>•  profit → revenue − cost</a:t>
            </a:r>
          </a:p>
          <a:p>
            <a:pPr>
              <a:spcAft>
                <a:spcPts val="900"/>
              </a:spcAft>
              <a:defRPr sz="1600">
                <a:solidFill>
                  <a:srgbClr val="16233A"/>
                </a:solidFill>
                <a:latin typeface="Aptos"/>
              </a:defRPr>
            </a:pPr>
            <a:r>
              <a:t>•  profit_margin → profit ÷ revenue ×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554480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800" b="1">
                <a:solidFill>
                  <a:srgbClr val="199691"/>
                </a:solidFill>
                <a:latin typeface="Aptos"/>
              </a:defRPr>
            </a:pPr>
            <a:r>
              <a:t>Intent fields / allowlists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65960"/>
            <a:ext cx="5029200" cy="32004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6233A"/>
                </a:solidFill>
                <a:latin typeface="Aptos"/>
              </a:defRPr>
            </a:pPr>
            <a:r>
              <a:t>•  metric: approved metric identifier</a:t>
            </a:r>
          </a:p>
          <a:p>
            <a:pPr>
              <a:spcAft>
                <a:spcPts val="900"/>
              </a:spcAft>
              <a:defRPr sz="1600">
                <a:solidFill>
                  <a:srgbClr val="16233A"/>
                </a:solidFill>
                <a:latin typeface="Aptos"/>
              </a:defRPr>
            </a:pPr>
            <a:r>
              <a:t>•  dimension: country, product or sale_date (in API code)</a:t>
            </a:r>
          </a:p>
          <a:p>
            <a:pPr>
              <a:spcAft>
                <a:spcPts val="900"/>
              </a:spcAft>
              <a:defRPr sz="1600">
                <a:solidFill>
                  <a:srgbClr val="16233A"/>
                </a:solidFill>
                <a:latin typeface="Aptos"/>
              </a:defRPr>
            </a:pPr>
            <a:r>
              <a:t>•  operation: total, breakdown, highest or lowest</a:t>
            </a:r>
          </a:p>
          <a:p>
            <a:pPr>
              <a:spcAft>
                <a:spcPts val="900"/>
              </a:spcAft>
              <a:defRPr sz="1600">
                <a:solidFill>
                  <a:srgbClr val="16233A"/>
                </a:solidFill>
                <a:latin typeface="Aptos"/>
              </a:defRPr>
            </a:pPr>
            <a:r>
              <a:t>•  filters: validated filter values, where supported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1">
                <a:solidFill>
                  <a:srgbClr val="BC4C4C"/>
                </a:solidFill>
                <a:latin typeface="Aptos"/>
              </a:defRPr>
            </a:pPr>
            <a:r>
              <a:t>Important: the API vocabulary and CSV schema do not fully match; the CSV uses region and quarter, not country/product/sale_date.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800" b="1">
                <a:solidFill>
                  <a:srgbClr val="16233A"/>
                </a:solidFill>
                <a:latin typeface="Aptos"/>
              </a:defRPr>
            </a:pPr>
            <a:r>
              <a:t>Mock sales data: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97280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58667A"/>
                </a:solidFill>
                <a:latin typeface="Aptos"/>
              </a:defRPr>
            </a:pPr>
            <a:r>
              <a:t>Descriptive analysis of the supplied CSV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54864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800" b="1">
                <a:solidFill>
                  <a:srgbClr val="58667A"/>
                </a:solidFill>
                <a:latin typeface="Aptos"/>
              </a:defRPr>
            </a:pPr>
            <a:r>
              <a:t>METRICMIND  |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0">
                <a:solidFill>
                  <a:srgbClr val="58667A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2514600" cy="1097280"/>
          </a:xfrm>
          <a:prstGeom prst="roundRect">
            <a:avLst/>
          </a:prstGeom>
          <a:solidFill>
            <a:srgbClr val="F2F6FB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737360"/>
            <a:ext cx="2185416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00" b="1">
                <a:solidFill>
                  <a:srgbClr val="58667A"/>
                </a:solidFill>
                <a:latin typeface="Aptos"/>
              </a:defRPr>
            </a:pPr>
            <a:r>
              <a:t>TOTAL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03120"/>
            <a:ext cx="2185416" cy="50291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300" b="1">
                <a:solidFill>
                  <a:srgbClr val="2A6CBE"/>
                </a:solidFill>
                <a:latin typeface="Aptos"/>
              </a:defRPr>
            </a:pPr>
            <a:r>
              <a:t>1,110,000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00200"/>
            <a:ext cx="2514600" cy="1097280"/>
          </a:xfrm>
          <a:prstGeom prst="roundRect">
            <a:avLst/>
          </a:prstGeom>
          <a:solidFill>
            <a:srgbClr val="F2F6FB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93592" y="1737360"/>
            <a:ext cx="2185416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00" b="1">
                <a:solidFill>
                  <a:srgbClr val="58667A"/>
                </a:solidFill>
                <a:latin typeface="Aptos"/>
              </a:defRPr>
            </a:pPr>
            <a:r>
              <a:t>TOTAL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103120"/>
            <a:ext cx="2185416" cy="50291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300" b="1">
                <a:solidFill>
                  <a:srgbClr val="E69138"/>
                </a:solidFill>
                <a:latin typeface="Aptos"/>
              </a:defRPr>
            </a:pPr>
            <a:r>
              <a:t>690,000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2514600" cy="1097280"/>
          </a:xfrm>
          <a:prstGeom prst="roundRect">
            <a:avLst/>
          </a:prstGeom>
          <a:solidFill>
            <a:srgbClr val="F2F6FB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91072" y="1737360"/>
            <a:ext cx="2185416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00" b="1">
                <a:solidFill>
                  <a:srgbClr val="58667A"/>
                </a:solidFill>
                <a:latin typeface="Aptos"/>
              </a:defRPr>
            </a:pPr>
            <a:r>
              <a:t>PROFIT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103120"/>
            <a:ext cx="2185416" cy="50291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300" b="1">
                <a:solidFill>
                  <a:srgbClr val="199691"/>
                </a:solidFill>
                <a:latin typeface="Aptos"/>
              </a:defRPr>
            </a:pPr>
            <a:r>
              <a:t>420,000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600200"/>
            <a:ext cx="2514600" cy="1097280"/>
          </a:xfrm>
          <a:prstGeom prst="roundRect">
            <a:avLst/>
          </a:prstGeom>
          <a:solidFill>
            <a:srgbClr val="F2F6FB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88552" y="1737360"/>
            <a:ext cx="2185416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00" b="1">
                <a:solidFill>
                  <a:srgbClr val="58667A"/>
                </a:solidFill>
                <a:latin typeface="Aptos"/>
              </a:defRPr>
            </a:pPr>
            <a:r>
              <a:t>OVERALL MARGIN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2103120"/>
            <a:ext cx="2185416" cy="50291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300" b="1">
                <a:solidFill>
                  <a:srgbClr val="2A6CBE"/>
                </a:solidFill>
                <a:latin typeface="Aptos"/>
              </a:defRPr>
            </a:pPr>
            <a:r>
              <a:t>37.8%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154680"/>
            <a:ext cx="106984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600" b="1">
                <a:solidFill>
                  <a:srgbClr val="16233A"/>
                </a:solidFill>
                <a:latin typeface="Aptos"/>
              </a:defRPr>
            </a:pPr>
            <a:r>
              <a:t>Dataset fields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611880"/>
            <a:ext cx="10424160" cy="685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500" b="0">
                <a:solidFill>
                  <a:srgbClr val="58667A"/>
                </a:solidFill>
                <a:latin typeface="Aptos"/>
              </a:defRPr>
            </a:pPr>
            <a:r>
              <a:t>region, quarter, revenue, cost, churn_rate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617720"/>
            <a:ext cx="1051560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500" b="0">
                <a:solidFill>
                  <a:srgbClr val="16233A"/>
                </a:solidFill>
                <a:latin typeface="Aptos"/>
              </a:defRPr>
            </a:pPr>
            <a:r>
              <a:t>Coverage: 6 records, 3 regions, 2 quarter labels. This is a demonstration dataset, not enough by itself for robust forecasting.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800" b="1">
                <a:solidFill>
                  <a:srgbClr val="16233A"/>
                </a:solidFill>
                <a:latin typeface="Aptos"/>
              </a:defRPr>
            </a:pPr>
            <a:r>
              <a:t>Visualization 1: revenue by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97280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58667A"/>
                </a:solidFill>
                <a:latin typeface="Aptos"/>
              </a:defRPr>
            </a:pPr>
            <a:r>
              <a:t>Compare total revenue across the mock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54864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800" b="1">
                <a:solidFill>
                  <a:srgbClr val="58667A"/>
                </a:solidFill>
                <a:latin typeface="Aptos"/>
              </a:defRPr>
            </a:pPr>
            <a:r>
              <a:t>METRICMIND  |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0">
                <a:solidFill>
                  <a:srgbClr val="58667A"/>
                </a:solidFill>
                <a:latin typeface="Aptos"/>
              </a:defRPr>
            </a:pPr>
            <a:r>
              <a:t>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508760"/>
          <a:ext cx="7498079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595360" y="1828800"/>
            <a:ext cx="27432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700" b="1">
                <a:solidFill>
                  <a:srgbClr val="199691"/>
                </a:solidFill>
                <a:latin typeface="Aptos"/>
              </a:defRPr>
            </a:pPr>
            <a:r>
              <a:t>How to read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331720"/>
            <a:ext cx="2743200" cy="24688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16233A"/>
                </a:solidFill>
                <a:latin typeface="Aptos"/>
              </a:defRPr>
            </a:pPr>
            <a:r>
              <a:t>•  Higher bars indicate larger total revenue.</a:t>
            </a:r>
          </a:p>
          <a:p>
            <a:pPr>
              <a:spcAft>
                <a:spcPts val="900"/>
              </a:spcAft>
              <a:defRPr sz="1300">
                <a:solidFill>
                  <a:srgbClr val="16233A"/>
                </a:solidFill>
                <a:latin typeface="Aptos"/>
              </a:defRPr>
            </a:pPr>
            <a:r>
              <a:t>•  Pair revenue with cost and margin before judging performance.</a:t>
            </a:r>
          </a:p>
          <a:p>
            <a:pPr>
              <a:spcAft>
                <a:spcPts val="900"/>
              </a:spcAft>
              <a:defRPr sz="1300">
                <a:solidFill>
                  <a:srgbClr val="16233A"/>
                </a:solidFill>
                <a:latin typeface="Aptos"/>
              </a:defRPr>
            </a:pPr>
            <a:r>
              <a:t>•  Check the number of observations behind each region.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800" b="1">
                <a:solidFill>
                  <a:srgbClr val="16233A"/>
                </a:solidFill>
                <a:latin typeface="Aptos"/>
              </a:defRPr>
            </a:pPr>
            <a:r>
              <a:t>Visualization 2: profit margin by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97280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58667A"/>
                </a:solidFill>
                <a:latin typeface="Aptos"/>
              </a:defRPr>
            </a:pPr>
            <a:r>
              <a:t>Profit margin = (revenue − cost) / revenue × 100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54864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800" b="1">
                <a:solidFill>
                  <a:srgbClr val="58667A"/>
                </a:solidFill>
                <a:latin typeface="Aptos"/>
              </a:defRPr>
            </a:pPr>
            <a:r>
              <a:t>METRICMIND  |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0">
                <a:solidFill>
                  <a:srgbClr val="58667A"/>
                </a:solidFill>
                <a:latin typeface="Aptos"/>
              </a:defRPr>
            </a:pPr>
            <a:r>
              <a:t>8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508760"/>
          <a:ext cx="7498079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595360" y="1828800"/>
            <a:ext cx="27432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700" b="1">
                <a:solidFill>
                  <a:srgbClr val="19969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331720"/>
            <a:ext cx="2743200" cy="24688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16233A"/>
                </a:solidFill>
                <a:latin typeface="Aptos"/>
              </a:defRPr>
            </a:pPr>
            <a:r>
              <a:t>•  Margin normalizes profit relative to revenue.</a:t>
            </a:r>
          </a:p>
          <a:p>
            <a:pPr>
              <a:spcAft>
                <a:spcPts val="900"/>
              </a:spcAft>
              <a:defRPr sz="1300">
                <a:solidFill>
                  <a:srgbClr val="16233A"/>
                </a:solidFill>
                <a:latin typeface="Aptos"/>
              </a:defRPr>
            </a:pPr>
            <a:r>
              <a:t>•  A high-revenue region may still have weaker profitability.</a:t>
            </a:r>
          </a:p>
          <a:p>
            <a:pPr>
              <a:spcAft>
                <a:spcPts val="900"/>
              </a:spcAft>
              <a:defRPr sz="1300">
                <a:solidFill>
                  <a:srgbClr val="16233A"/>
                </a:solidFill>
                <a:latin typeface="Aptos"/>
              </a:defRPr>
            </a:pPr>
            <a:r>
              <a:t>•  Use the same formula consistently across groups.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800" b="1">
                <a:solidFill>
                  <a:srgbClr val="16233A"/>
                </a:solidFill>
                <a:latin typeface="Aptos"/>
              </a:defRPr>
            </a:pPr>
            <a:r>
              <a:t>Visualization 3: quarterly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97280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58667A"/>
                </a:solidFill>
                <a:latin typeface="Aptos"/>
              </a:defRPr>
            </a:pPr>
            <a:r>
              <a:t>Revenue, cost and margin by quarter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54864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800" b="1">
                <a:solidFill>
                  <a:srgbClr val="58667A"/>
                </a:solidFill>
                <a:latin typeface="Aptos"/>
              </a:defRPr>
            </a:pPr>
            <a:r>
              <a:t>METRICMIND  |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0">
                <a:solidFill>
                  <a:srgbClr val="58667A"/>
                </a:solidFill>
                <a:latin typeface="Aptos"/>
              </a:defRPr>
            </a:pPr>
            <a:r>
              <a:t>9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50876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223760" y="1508760"/>
          <a:ext cx="4114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989320"/>
            <a:ext cx="106070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1">
                <a:solidFill>
                  <a:srgbClr val="BC4C4C"/>
                </a:solidFill>
                <a:latin typeface="Aptos"/>
              </a:defRPr>
            </a:pPr>
            <a:r>
              <a:t>With only two quarter labels, this supports comparison—not reliable seasonality or trend forecasting.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800" b="1">
                <a:solidFill>
                  <a:srgbClr val="16233A"/>
                </a:solidFill>
                <a:latin typeface="Aptos"/>
              </a:defRPr>
            </a:pPr>
            <a:r>
              <a:t>Scenario: investigate European Q2 margin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97280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58667A"/>
                </a:solidFill>
                <a:latin typeface="Aptos"/>
              </a:defRPr>
            </a:pPr>
            <a:r>
              <a:t>A representative business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54864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800" b="1">
                <a:solidFill>
                  <a:srgbClr val="58667A"/>
                </a:solidFill>
                <a:latin typeface="Aptos"/>
              </a:defRPr>
            </a:pPr>
            <a:r>
              <a:t>METRICMIND  |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0">
                <a:solidFill>
                  <a:srgbClr val="58667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846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800" b="1">
                <a:solidFill>
                  <a:srgbClr val="2A6CBE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84632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900" b="1">
                <a:solidFill>
                  <a:srgbClr val="16233A"/>
                </a:solidFill>
                <a:latin typeface="Aptos"/>
              </a:defRPr>
            </a:pPr>
            <a:r>
              <a:t>“Why did our European margins drop in Q2?”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54480"/>
            <a:ext cx="50292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800" b="1">
                <a:solidFill>
                  <a:srgbClr val="199691"/>
                </a:solidFill>
                <a:latin typeface="Aptos"/>
              </a:defRPr>
            </a:pPr>
            <a:r>
              <a:t>What the sample can establish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965960"/>
            <a:ext cx="4754880" cy="237744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Compare Europe Q1 and Q2 revenue, cost and margin.</a:t>
            </a:r>
          </a:p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Check whether cost rose, revenue fell, or both.</a:t>
            </a:r>
          </a:p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The sample describes the change; it cannot prove causation.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39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600" b="1">
                <a:solidFill>
                  <a:srgbClr val="16233A"/>
                </a:solidFill>
                <a:latin typeface="Aptos"/>
              </a:defRPr>
            </a:pPr>
            <a:r>
              <a:t>European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60520"/>
            <a:ext cx="4937760" cy="13716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6233A"/>
                </a:solidFill>
                <a:latin typeface="Aptos"/>
              </a:defRPr>
            </a:pPr>
            <a:r>
              <a:t>•  Q1_2026: revenue 120,000, cost 80,000, margin 33.3%</a:t>
            </a:r>
          </a:p>
          <a:p>
            <a:pPr>
              <a:spcAft>
                <a:spcPts val="900"/>
              </a:spcAft>
              <a:defRPr sz="1400">
                <a:solidFill>
                  <a:srgbClr val="16233A"/>
                </a:solidFill>
                <a:latin typeface="Aptos"/>
              </a:defRPr>
            </a:pPr>
            <a:r>
              <a:t>•  Q2_2026: revenue 95,000, cost 75,000, margin 21.1%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846320"/>
            <a:ext cx="475488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1">
                <a:solidFill>
                  <a:srgbClr val="BC4C4C"/>
                </a:solidFill>
                <a:latin typeface="Aptos"/>
              </a:defRPr>
            </a:pPr>
            <a:r>
              <a:t>For stronger diagnosis, add product mix, price, volume and customer-level drivers.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800" b="1">
                <a:solidFill>
                  <a:srgbClr val="16233A"/>
                </a:solidFill>
                <a:latin typeface="Aptos"/>
              </a:defRPr>
            </a:pPr>
            <a:r>
              <a:t>Metrics: analytics vs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97280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58667A"/>
                </a:solidFill>
                <a:latin typeface="Aptos"/>
              </a:defRPr>
            </a:pPr>
            <a:r>
              <a:t>Choose measures that match the task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54864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800" b="1">
                <a:solidFill>
                  <a:srgbClr val="58667A"/>
                </a:solidFill>
                <a:latin typeface="Aptos"/>
              </a:defRPr>
            </a:pPr>
            <a:r>
              <a:t>METRICMIND  |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0">
                <a:solidFill>
                  <a:srgbClr val="58667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1206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800" b="1">
                <a:solidFill>
                  <a:srgbClr val="2A6CBE"/>
                </a:solidFill>
                <a:latin typeface="Aptos"/>
              </a:defRPr>
            </a:pPr>
            <a:r>
              <a:t>Current descriptive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846320" cy="25603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Revenue, cost and profit totals</a:t>
            </a:r>
          </a:p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Profit margin percentages</a:t>
            </a:r>
          </a:p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Regional / quarterly breakdowns</a:t>
            </a:r>
          </a:p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Highest and lowest groups (if requested)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554480"/>
            <a:ext cx="51206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800" b="1">
                <a:solidFill>
                  <a:srgbClr val="199691"/>
                </a:solidFill>
                <a:latin typeface="Aptos"/>
              </a:defRPr>
            </a:pPr>
            <a:r>
              <a:t>If forecasting is added later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65960"/>
            <a:ext cx="4937760" cy="283464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MAE: average absolute forecast error</a:t>
            </a:r>
          </a:p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RMSE: penalizes larger errors</a:t>
            </a:r>
          </a:p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MAPE: percentage error (careful with zero values)</a:t>
            </a:r>
          </a:p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Time-based train/test split and baseline comparison</a:t>
            </a:r>
          </a:p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More historical observations required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5156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00" b="1">
                <a:solidFill>
                  <a:srgbClr val="BC4C4C"/>
                </a:solidFill>
                <a:latin typeface="Aptos"/>
              </a:defRPr>
            </a:pPr>
            <a:r>
              <a:t>The supplied code does not implement a trained prediction model; do not report forecast accuracy without a real held-out evaluation.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800" b="1">
                <a:solidFill>
                  <a:srgbClr val="16233A"/>
                </a:solidFill>
                <a:latin typeface="Aptos"/>
              </a:defRPr>
            </a:pPr>
            <a:r>
              <a:t>OOP structure &amp; technology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97280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58667A"/>
                </a:solidFill>
                <a:latin typeface="Aptos"/>
              </a:defRPr>
            </a:pPr>
            <a:r>
              <a:t>Suggested maintainable module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54864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800" b="1">
                <a:solidFill>
                  <a:srgbClr val="58667A"/>
                </a:solidFill>
                <a:latin typeface="Aptos"/>
              </a:defRPr>
            </a:pPr>
            <a:r>
              <a:t>METRICMIND  |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0">
                <a:solidFill>
                  <a:srgbClr val="58667A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303520" cy="43891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API/controller: FastAPI endpoints and request/response models</a:t>
            </a:r>
          </a:p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Intent parser: LangChain prompt + ChatOllama JSON extraction</a:t>
            </a:r>
          </a:p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Governance validator: allowlisted metrics, dimensions and operations</a:t>
            </a:r>
          </a:p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Metric registry: definitions, formulas and descriptions</a:t>
            </a:r>
          </a:p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Query builder / repository: parameterized SQL and database access</a:t>
            </a:r>
          </a:p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Analytics service: grouping, calculations and result formatting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6634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800" b="1">
                <a:solidFill>
                  <a:srgbClr val="199691"/>
                </a:solidFill>
                <a:latin typeface="Aptos"/>
              </a:defRPr>
            </a:pPr>
            <a:r>
              <a:t>Core libraries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65960"/>
            <a:ext cx="4663440" cy="33832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FastAPI — HTTP API</a:t>
            </a:r>
          </a:p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LangChain — prompt/model orchestration</a:t>
            </a:r>
          </a:p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Ollama + llama3.2 — local language model</a:t>
            </a:r>
          </a:p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psycopg2 — PostgreSQL connection</a:t>
            </a:r>
          </a:p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pandas — CSV and tabular analysis</a:t>
            </a:r>
          </a:p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matplotlib / python-pptx — reporting visuals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800" b="1">
                <a:solidFill>
                  <a:srgbClr val="16233A"/>
                </a:solidFill>
                <a:latin typeface="Aptos"/>
              </a:defRPr>
            </a:pPr>
            <a:r>
              <a:t>Governance, reliability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97280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58667A"/>
                </a:solidFill>
                <a:latin typeface="Aptos"/>
              </a:defRPr>
            </a:pPr>
            <a:r>
              <a:t>Production-readiness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54864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800" b="1">
                <a:solidFill>
                  <a:srgbClr val="58667A"/>
                </a:solidFill>
                <a:latin typeface="Aptos"/>
              </a:defRPr>
            </a:pPr>
            <a:r>
              <a:t>METRICMIND  |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0">
                <a:solidFill>
                  <a:srgbClr val="58667A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6233A"/>
                </a:solidFill>
                <a:latin typeface="Aptos"/>
              </a:defRPr>
            </a:pPr>
            <a:r>
              <a:t>•  Use parameterized SQL for all user-provided filter values; never interpolate raw text.</a:t>
            </a:r>
          </a:p>
          <a:p>
            <a:pPr>
              <a:spcAft>
                <a:spcPts val="900"/>
              </a:spcAft>
              <a:defRPr sz="1600">
                <a:solidFill>
                  <a:srgbClr val="16233A"/>
                </a:solidFill>
                <a:latin typeface="Aptos"/>
              </a:defRPr>
            </a:pPr>
            <a:r>
              <a:t>•  Keep database credentials in environment variables or a secret manager; rotate any exposed credentials.</a:t>
            </a:r>
          </a:p>
          <a:p>
            <a:pPr>
              <a:spcAft>
                <a:spcPts val="900"/>
              </a:spcAft>
              <a:defRPr sz="1600">
                <a:solidFill>
                  <a:srgbClr val="16233A"/>
                </a:solidFill>
                <a:latin typeface="Aptos"/>
              </a:defRPr>
            </a:pPr>
            <a:r>
              <a:t>•  Use a read-only database role and enforce query timeouts and row limits.</a:t>
            </a:r>
          </a:p>
          <a:p>
            <a:pPr>
              <a:spcAft>
                <a:spcPts val="900"/>
              </a:spcAft>
              <a:defRPr sz="1600">
                <a:solidFill>
                  <a:srgbClr val="16233A"/>
                </a:solidFill>
                <a:latin typeface="Aptos"/>
              </a:defRPr>
            </a:pPr>
            <a:r>
              <a:t>•  Validate LLM output against a strict schema; reject unknown metric, dimension or operation values.</a:t>
            </a:r>
          </a:p>
          <a:p>
            <a:pPr>
              <a:spcAft>
                <a:spcPts val="900"/>
              </a:spcAft>
              <a:defRPr sz="1600">
                <a:solidFill>
                  <a:srgbClr val="16233A"/>
                </a:solidFill>
                <a:latin typeface="Aptos"/>
              </a:defRPr>
            </a:pPr>
            <a:r>
              <a:t>•  Log request IDs, validated intent, execution time and errors—avoid logging secrets or sensitive rows.</a:t>
            </a:r>
          </a:p>
          <a:p>
            <a:pPr>
              <a:spcAft>
                <a:spcPts val="900"/>
              </a:spcAft>
              <a:defRPr sz="1600">
                <a:solidFill>
                  <a:srgbClr val="16233A"/>
                </a:solidFill>
                <a:latin typeface="Aptos"/>
              </a:defRPr>
            </a:pPr>
            <a:r>
              <a:t>•  Add tests for malformed JSON, unsupported requests, zero revenue, empty data and database failures.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15000"/>
            <a:ext cx="102412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1">
                <a:solidFill>
                  <a:srgbClr val="BC4C4C"/>
                </a:solidFill>
                <a:latin typeface="Aptos"/>
              </a:defRPr>
            </a:pPr>
            <a:r>
              <a:t>The uploaded code includes governance concepts; verify SQL safety and credential handling before production deployment.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800" b="1">
                <a:solidFill>
                  <a:srgbClr val="16233A"/>
                </a:solidFill>
                <a:latin typeface="Aptos"/>
              </a:defRPr>
            </a:pPr>
            <a:r>
              <a:t>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97280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58667A"/>
                </a:solidFill>
                <a:latin typeface="Aptos"/>
              </a:defRPr>
            </a:pPr>
            <a:r>
              <a:t>What is needed to move from demo to dependable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54864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800" b="1">
                <a:solidFill>
                  <a:srgbClr val="58667A"/>
                </a:solidFill>
                <a:latin typeface="Aptos"/>
              </a:defRPr>
            </a:pPr>
            <a:r>
              <a:t>METRICMIND  |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0">
                <a:solidFill>
                  <a:srgbClr val="58667A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074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800" b="1">
                <a:solidFill>
                  <a:srgbClr val="2A6CBE"/>
                </a:solidFill>
                <a:latin typeface="Aptos"/>
              </a:defRPr>
            </a:pPr>
            <a:r>
              <a:t>Known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846320" cy="329184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Small sample dataset: six rows.</a:t>
            </a:r>
          </a:p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Schema mismatch: API uses country/product/sale_date; CSV uses region/quarter.</a:t>
            </a:r>
          </a:p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Referenced agent/governance modules were not included in the supplied files.</a:t>
            </a:r>
          </a:p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No trained prediction model or forecast evaluation is present.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554480"/>
            <a:ext cx="5074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800" b="1">
                <a:solidFill>
                  <a:srgbClr val="199691"/>
                </a:solidFill>
                <a:latin typeface="Aptos"/>
              </a:defRPr>
            </a:pPr>
            <a:r>
              <a:t>Recommended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65960"/>
            <a:ext cx="4846320" cy="329184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Align database schema, metric registry and CSV field names.</a:t>
            </a:r>
          </a:p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Add automated tests and typed request/response schemas.</a:t>
            </a:r>
          </a:p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Build a curated scenario and question test set.</a:t>
            </a:r>
          </a:p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Add forecast model only when sufficient dated history exists.</a:t>
            </a:r>
          </a:p>
          <a:p>
            <a:pPr>
              <a:spcAft>
                <a:spcPts val="900"/>
              </a:spcAft>
              <a:defRPr sz="1500">
                <a:solidFill>
                  <a:srgbClr val="16233A"/>
                </a:solidFill>
                <a:latin typeface="Aptos"/>
              </a:defRPr>
            </a:pPr>
            <a:r>
              <a:t>•  Monitor query validity, latency and answer correctness.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731520"/>
            <a:ext cx="10515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00" b="1">
                <a:solidFill>
                  <a:srgbClr val="73DCCF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51560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"/>
              </a:defRPr>
            </a:pPr>
            <a:r>
              <a:t>Make business questions measurable, validated and explainable.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60320"/>
            <a:ext cx="10332720" cy="24688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Semantic metrics reduce ambiguity between business language and data fields.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LangChain + Ollama can extract intent; governance and application code must enforce constraints.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Charts help reveal differences, but small mock data supports descriptive analysis only.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Prediction requires a separate modeling pipeline and honest evaluation metrics.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97880"/>
            <a:ext cx="102412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0">
                <a:solidFill>
                  <a:srgbClr val="B9C6D7"/>
                </a:solidFill>
                <a:latin typeface="Aptos"/>
              </a:defRPr>
            </a:pPr>
            <a:r>
              <a:t>End of presentation • MetricMind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800" b="1">
                <a:solidFill>
                  <a:srgbClr val="58667A"/>
                </a:solidFill>
                <a:latin typeface="Aptos"/>
              </a:defRPr>
            </a:pPr>
            <a:r>
              <a:t>METRICMIND  | 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0">
                <a:solidFill>
                  <a:srgbClr val="58667A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6233A"/>
                </a:solidFill>
                <a:latin typeface="Aptos"/>
              </a:defRPr>
            </a:pPr>
            <a:r>
              <a:t>What We Gain from Data Science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972800" cy="2743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8667A"/>
                </a:solidFill>
                <a:latin typeface="Aptos"/>
              </a:defRPr>
            </a:pPr>
            <a:r>
              <a:t>Research outcomes from technical, documentation and statistical perspectives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54864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520440" cy="1691640"/>
          </a:xfrm>
          <a:prstGeom prst="roundRect">
            <a:avLst/>
          </a:prstGeom>
          <a:solidFill>
            <a:srgbClr val="F2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09928"/>
            <a:ext cx="3246120" cy="292608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A6CBE"/>
                </a:solidFill>
                <a:latin typeface="Aptos"/>
              </a:defRPr>
            </a:pPr>
            <a:r>
              <a:t>TECHNICAL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3246120" cy="1161288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6233A"/>
                </a:solidFill>
                <a:latin typeface="Aptos"/>
              </a:defRPr>
            </a:pPr>
            <a:r>
              <a:t>• Natural-language questions mapped to structured intent</a:t>
            </a:r>
          </a:p>
          <a:p>
            <a:pPr>
              <a:spcAft>
                <a:spcPts val="700"/>
              </a:spcAft>
              <a:defRPr sz="1300" b="0">
                <a:solidFill>
                  <a:srgbClr val="16233A"/>
                </a:solidFill>
                <a:latin typeface="Aptos"/>
              </a:defRPr>
            </a:pPr>
            <a:r>
              <a:t>• Governed metrics and safer query flow</a:t>
            </a:r>
          </a:p>
          <a:p>
            <a:pPr>
              <a:spcAft>
                <a:spcPts val="700"/>
              </a:spcAft>
              <a:defRPr sz="1300" b="0">
                <a:solidFill>
                  <a:srgbClr val="16233A"/>
                </a:solidFill>
                <a:latin typeface="Aptos"/>
              </a:defRPr>
            </a:pPr>
            <a:r>
              <a:t>• Reusable API and modular OOP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00200"/>
            <a:ext cx="3520440" cy="1691640"/>
          </a:xfrm>
          <a:prstGeom prst="roundRect">
            <a:avLst/>
          </a:prstGeom>
          <a:solidFill>
            <a:srgbClr val="F2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709928"/>
            <a:ext cx="3246120" cy="292608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99691"/>
                </a:solidFill>
                <a:latin typeface="Aptos"/>
              </a:defRPr>
            </a:pPr>
            <a:r>
              <a:t>DOCUMENTATION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57400"/>
            <a:ext cx="3246120" cy="1161288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6233A"/>
                </a:solidFill>
                <a:latin typeface="Aptos"/>
              </a:defRPr>
            </a:pPr>
            <a:r>
              <a:t>• Clear problem statement and architecture</a:t>
            </a:r>
          </a:p>
          <a:p>
            <a:pPr>
              <a:spcAft>
                <a:spcPts val="700"/>
              </a:spcAft>
              <a:defRPr sz="1300" b="0">
                <a:solidFill>
                  <a:srgbClr val="16233A"/>
                </a:solidFill>
                <a:latin typeface="Aptos"/>
              </a:defRPr>
            </a:pPr>
            <a:r>
              <a:t>• Reproducible methods, formulas and assumptions</a:t>
            </a:r>
          </a:p>
          <a:p>
            <a:pPr>
              <a:spcAft>
                <a:spcPts val="700"/>
              </a:spcAft>
              <a:defRPr sz="1300" b="0">
                <a:solidFill>
                  <a:srgbClr val="16233A"/>
                </a:solidFill>
                <a:latin typeface="Aptos"/>
              </a:defRPr>
            </a:pPr>
            <a:r>
              <a:t>• Traceable limitations, tests and next steps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600200"/>
            <a:ext cx="3520440" cy="1691640"/>
          </a:xfrm>
          <a:prstGeom prst="roundRect">
            <a:avLst/>
          </a:prstGeom>
          <a:solidFill>
            <a:srgbClr val="F2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1709928"/>
            <a:ext cx="3246120" cy="292608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E69138"/>
                </a:solidFill>
                <a:latin typeface="Aptos"/>
              </a:defRPr>
            </a:pPr>
            <a:r>
              <a:t>STATISTICAL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057400"/>
            <a:ext cx="3246120" cy="1161288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6233A"/>
                </a:solidFill>
                <a:latin typeface="Aptos"/>
              </a:defRPr>
            </a:pPr>
            <a:r>
              <a:t>• Descriptive summaries and comparisons</a:t>
            </a:r>
          </a:p>
          <a:p>
            <a:pPr>
              <a:spcAft>
                <a:spcPts val="700"/>
              </a:spcAft>
              <a:defRPr sz="1300" b="0">
                <a:solidFill>
                  <a:srgbClr val="16233A"/>
                </a:solidFill>
                <a:latin typeface="Aptos"/>
              </a:defRPr>
            </a:pPr>
            <a:r>
              <a:t>• Revenue, cost, profit and margin calculations</a:t>
            </a:r>
          </a:p>
          <a:p>
            <a:pPr>
              <a:spcAft>
                <a:spcPts val="700"/>
              </a:spcAft>
              <a:defRPr sz="1300" b="0">
                <a:solidFill>
                  <a:srgbClr val="16233A"/>
                </a:solidFill>
                <a:latin typeface="Aptos"/>
              </a:defRPr>
            </a:pPr>
            <a:r>
              <a:t>• Charts to identify patterns for investigation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657600"/>
            <a:ext cx="10652760" cy="1005840"/>
          </a:xfrm>
          <a:prstGeom prst="roundRect">
            <a:avLst/>
          </a:prstGeom>
          <a:solidFill>
            <a:srgbClr val="F2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767328"/>
            <a:ext cx="10378440" cy="292608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99691"/>
                </a:solidFill>
                <a:latin typeface="Aptos"/>
              </a:defRPr>
            </a:pPr>
            <a:r>
              <a:t>MAIN RESEARCH 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10378440" cy="475488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6233A"/>
                </a:solidFill>
                <a:latin typeface="Aptos"/>
              </a:defRPr>
            </a:pPr>
            <a:r>
              <a:t>Combine domain questions, validated metrics, transparent calculations and visual evidence to make analysis understandable and repeatable.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983480"/>
            <a:ext cx="10652760" cy="822960"/>
          </a:xfrm>
          <a:prstGeom prst="roundRect">
            <a:avLst/>
          </a:prstGeom>
          <a:solidFill>
            <a:srgbClr val="F2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093208"/>
            <a:ext cx="10378440" cy="292608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BC4C4C"/>
                </a:solidFill>
                <a:latin typeface="Aptos"/>
              </a:defRPr>
            </a:pPr>
            <a:r>
              <a:t>EVIDENCE LIMIT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40680"/>
            <a:ext cx="10378440" cy="292608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6233A"/>
                </a:solidFill>
                <a:latin typeface="Aptos"/>
              </a:defRPr>
            </a:pPr>
            <a:r>
              <a:t>The six-row mock dataset supports demonstration-level descriptive analysis—not strong causal claims or reliable forecasting.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8667A"/>
                </a:solidFill>
                <a:latin typeface="Aptos"/>
              </a:defRPr>
            </a:pPr>
            <a:r>
              <a:t>METRICMIND  |  PROJECT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8667A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6233A"/>
                </a:solidFill>
                <a:latin typeface="Aptos"/>
              </a:defRPr>
            </a:pPr>
            <a:r>
              <a:t>Potential Focus: Government &amp; Marine Affairs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972800" cy="2743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8667A"/>
                </a:solidFill>
                <a:latin typeface="Aptos"/>
              </a:defRPr>
            </a:pPr>
            <a:r>
              <a:t>A future domain application—not a result established by the current mock sales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54864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257800" cy="3611880"/>
          </a:xfrm>
          <a:prstGeom prst="roundRect">
            <a:avLst/>
          </a:prstGeom>
          <a:solidFill>
            <a:srgbClr val="F2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09928"/>
            <a:ext cx="4983480" cy="292608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A6CBE"/>
                </a:solidFill>
                <a:latin typeface="Aptos"/>
              </a:defRPr>
            </a:pPr>
            <a:r>
              <a:t>POTENTIAL DATA SCIENCE USE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4983480" cy="3081528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6233A"/>
                </a:solidFill>
                <a:latin typeface="Aptos"/>
              </a:defRPr>
            </a:pPr>
            <a:r>
              <a:t>• Monitor coastal and marine indicators over time</a:t>
            </a:r>
          </a:p>
          <a:p>
            <a:pPr>
              <a:spcAft>
                <a:spcPts val="700"/>
              </a:spcAft>
              <a:defRPr sz="1300" b="0">
                <a:solidFill>
                  <a:srgbClr val="16233A"/>
                </a:solidFill>
                <a:latin typeface="Aptos"/>
              </a:defRPr>
            </a:pPr>
            <a:r>
              <a:t>• Compare regions, seasons and monitoring stations</a:t>
            </a:r>
          </a:p>
          <a:p>
            <a:pPr>
              <a:spcAft>
                <a:spcPts val="700"/>
              </a:spcAft>
              <a:defRPr sz="1300" b="0">
                <a:solidFill>
                  <a:srgbClr val="16233A"/>
                </a:solidFill>
                <a:latin typeface="Aptos"/>
              </a:defRPr>
            </a:pPr>
            <a:r>
              <a:t>• Analyze fisheries, water quality or coastal-risk indicators when reliable data is available</a:t>
            </a:r>
          </a:p>
          <a:p>
            <a:pPr>
              <a:spcAft>
                <a:spcPts val="700"/>
              </a:spcAft>
              <a:defRPr sz="1300" b="0">
                <a:solidFill>
                  <a:srgbClr val="16233A"/>
                </a:solidFill>
                <a:latin typeface="Aptos"/>
              </a:defRPr>
            </a:pPr>
            <a:r>
              <a:t>• Generate plain-language reports for public-sector analysts</a:t>
            </a:r>
          </a:p>
          <a:p>
            <a:pPr>
              <a:spcAft>
                <a:spcPts val="700"/>
              </a:spcAft>
              <a:defRPr sz="1300" b="0">
                <a:solidFill>
                  <a:srgbClr val="16233A"/>
                </a:solidFill>
                <a:latin typeface="Aptos"/>
              </a:defRPr>
            </a:pPr>
            <a:r>
              <a:t>• Flag unusual changes for expert review—not automatic policy 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5257800" cy="3611880"/>
          </a:xfrm>
          <a:prstGeom prst="roundRect">
            <a:avLst/>
          </a:prstGeom>
          <a:solidFill>
            <a:srgbClr val="F2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709928"/>
            <a:ext cx="4983480" cy="292608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99691"/>
                </a:solidFill>
                <a:latin typeface="Aptos"/>
              </a:defRPr>
            </a:pPr>
            <a:r>
              <a:t>DATA &amp; GOVERNANCE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57400"/>
            <a:ext cx="4983480" cy="3081528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6233A"/>
                </a:solidFill>
                <a:latin typeface="Aptos"/>
              </a:defRPr>
            </a:pPr>
            <a:r>
              <a:t>• Use authoritative government or scientific datasets and record source/date</a:t>
            </a:r>
          </a:p>
          <a:p>
            <a:pPr>
              <a:spcAft>
                <a:spcPts val="700"/>
              </a:spcAft>
              <a:defRPr sz="1300" b="0">
                <a:solidFill>
                  <a:srgbClr val="16233A"/>
                </a:solidFill>
                <a:latin typeface="Aptos"/>
              </a:defRPr>
            </a:pPr>
            <a:r>
              <a:t>• Define each indicator, unit, geographic scope and update frequency</a:t>
            </a:r>
          </a:p>
          <a:p>
            <a:pPr>
              <a:spcAft>
                <a:spcPts val="700"/>
              </a:spcAft>
              <a:defRPr sz="1300" b="0">
                <a:solidFill>
                  <a:srgbClr val="16233A"/>
                </a:solidFill>
                <a:latin typeface="Aptos"/>
              </a:defRPr>
            </a:pPr>
            <a:r>
              <a:t>• Validate missing values, measurement methods and sensor quality</a:t>
            </a:r>
          </a:p>
          <a:p>
            <a:pPr>
              <a:spcAft>
                <a:spcPts val="700"/>
              </a:spcAft>
              <a:defRPr sz="1300" b="0">
                <a:solidFill>
                  <a:srgbClr val="16233A"/>
                </a:solidFill>
                <a:latin typeface="Aptos"/>
              </a:defRPr>
            </a:pPr>
            <a:r>
              <a:t>• Protect sensitive location or operational information</a:t>
            </a:r>
          </a:p>
          <a:p>
            <a:pPr>
              <a:spcAft>
                <a:spcPts val="700"/>
              </a:spcAft>
              <a:defRPr sz="1300" b="0">
                <a:solidFill>
                  <a:srgbClr val="16233A"/>
                </a:solidFill>
                <a:latin typeface="Aptos"/>
              </a:defRPr>
            </a:pPr>
            <a:r>
              <a:t>• Document uncertainty, model limits and human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486400"/>
            <a:ext cx="10652760" cy="594360"/>
          </a:xfrm>
          <a:prstGeom prst="roundRect">
            <a:avLst/>
          </a:prstGeom>
          <a:solidFill>
            <a:srgbClr val="F2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596128"/>
            <a:ext cx="10378440" cy="292608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BC4C4C"/>
                </a:solidFill>
                <a:latin typeface="Aptos"/>
              </a:defRPr>
            </a:pPr>
            <a:r>
              <a:t>RECOMMENDED NEXT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378440" cy="64008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6233A"/>
                </a:solidFill>
                <a:latin typeface="Aptos"/>
              </a:defRPr>
            </a:pPr>
            <a:r>
              <a:t>Obtain a marine-affairs dataset and align its actual fields with the metric registry before making domain-specific claims.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8667A"/>
                </a:solidFill>
                <a:latin typeface="Aptos"/>
              </a:defRPr>
            </a:pPr>
            <a:r>
              <a:t>METRICMIND  |  PROJECT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8667A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Pavan V</cp:lastModifiedBy>
  <cp:revision>2</cp:revision>
  <dcterms:created xsi:type="dcterms:W3CDTF">2013-01-27T09:14:16Z</dcterms:created>
  <dcterms:modified xsi:type="dcterms:W3CDTF">2026-10-15T04:36:05Z</dcterms:modified>
  <cp:category/>
</cp:coreProperties>
</file>